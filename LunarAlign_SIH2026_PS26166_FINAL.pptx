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548640"/>
            <a:ext cx="2377440" cy="32004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E17"/>
                </a:solidFill>
                <a:latin typeface="Segoe UI"/>
              </a:defRPr>
            </a:pPr>
            <a:r>
              <a:t>SIH 2026  ·  PS 26166  ·  ISRO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LunarAlign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Sun-Sweep Atlas &amp; Trust Router for Multi-Modal Lunar Image Correspondence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023360"/>
            <a:ext cx="301752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Team Selenographers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Multi-modal, Sun angle &amp; scale invariant image correspondence using Chandrayaan-2 optical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OpenCV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Kornia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LightGlue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LoFTR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MINIMA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5760720"/>
            <a:ext cx="914400" cy="320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09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E80"/>
                </a:solidFill>
                <a:latin typeface="Segoe UI"/>
              </a:defRPr>
            </a:pPr>
            <a:r>
              <a:t>github.com/saBBy-is/SunSweepAtlas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Lunar Image Matching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486400" cy="457200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☀ Sun Angle Variation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0B8C8"/>
                </a:solidFill>
                <a:latin typeface="Segoe UI"/>
              </a:defRPr>
            </a:pPr>
            <a:r>
              <a:t>Shadows cover 21% of pixels at 10° elevation</a:t>
            </a:r>
          </a:p>
          <a:p>
            <a:pPr>
              <a:spcAft>
                <a:spcPts val="400"/>
              </a:spcAft>
              <a:defRPr sz="1400" b="0">
                <a:solidFill>
                  <a:srgbClr val="B0B8C8"/>
                </a:solidFill>
                <a:latin typeface="Segoe UI"/>
              </a:defRPr>
            </a:pPr>
            <a:r>
              <a:t>vs only 2.9% at 40° elevation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NCC (Normalized Cross-Correlation) drops to:</a:t>
            </a:r>
          </a:p>
          <a:p>
            <a:pPr>
              <a:spcAft>
                <a:spcPts val="400"/>
              </a:spcAft>
              <a:defRPr sz="1400" b="0">
                <a:solidFill>
                  <a:srgbClr val="FFAA00"/>
                </a:solidFill>
                <a:latin typeface="Segoe UI"/>
              </a:defRPr>
            </a:pPr>
            <a:r>
              <a:t>  +0.56 at grazing sun (el 10°)</a:t>
            </a:r>
          </a:p>
          <a:p>
            <a:pPr>
              <a:spcAft>
                <a:spcPts val="400"/>
              </a:spcAft>
              <a:defRPr sz="1400" b="0">
                <a:solidFill>
                  <a:srgbClr val="FF4444"/>
                </a:solidFill>
                <a:latin typeface="Segoe UI"/>
              </a:defRPr>
            </a:pPr>
            <a:r>
              <a:t>  −0.54 at 180° azimuth flip</a:t>
            </a:r>
          </a:p>
          <a:p>
            <a:pPr>
              <a:spcAft>
                <a:spcPts val="4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  −0.62 at grazing + flip (worst case)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→ Same terrain looks completely different under</a:t>
            </a:r>
          </a:p>
          <a:p>
            <a:pPr>
              <a:spcAft>
                <a:spcPts val="400"/>
              </a:spcAft>
              <a:defRPr sz="1300" b="1">
                <a:solidFill>
                  <a:srgbClr val="FF4444"/>
                </a:solidFill>
                <a:latin typeface="Segoe UI"/>
              </a:defRPr>
            </a:pPr>
            <a:r>
              <a:t>   different illumination — SIFT finds 0 correct!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669280" cy="457200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🛰 Multi-Sensor Scale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Chandrayaan-2 carries 3 very different sensors: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OHRC  →  0.3 m/px  ·  PAN 450–850 nm</a:t>
            </a:r>
          </a:p>
          <a:p>
            <a:pPr>
              <a:spcAft>
                <a:spcPts val="400"/>
              </a:spcAft>
              <a:defRPr sz="1400" b="1">
                <a:solidFill>
                  <a:srgbClr val="FFAA00"/>
                </a:solidFill>
                <a:latin typeface="Segoe UI"/>
              </a:defRPr>
            </a:pPr>
            <a:r>
              <a:t>TMC-2 →  5.0 m/px  ·  PAN 500–850 nm</a:t>
            </a:r>
          </a:p>
          <a:p>
            <a:pPr>
              <a:spcAft>
                <a:spcPts val="4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IIRS  →  80  m/px  ·  VNIR+SWIR 800–5000 nm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Scale ratios between sensor pairs:</a:t>
            </a:r>
          </a:p>
          <a:p>
            <a:pPr>
              <a:spcAft>
                <a:spcPts val="400"/>
              </a:spcAft>
              <a:defRPr sz="1400" b="0">
                <a:solidFill>
                  <a:srgbClr val="FFAA00"/>
                </a:solidFill>
                <a:latin typeface="Segoe UI"/>
              </a:defRPr>
            </a:pPr>
            <a:r>
              <a:t>  OHRC ↔ TMC-2  :   17×   →  Moderate</a:t>
            </a:r>
          </a:p>
          <a:p>
            <a:pPr>
              <a:spcAft>
                <a:spcPts val="400"/>
              </a:spcAft>
              <a:defRPr sz="1400" b="0">
                <a:solidFill>
                  <a:srgbClr val="FFAA00"/>
                </a:solidFill>
                <a:latin typeface="Segoe UI"/>
              </a:defRPr>
            </a:pPr>
            <a:r>
              <a:t>  TMC-2 ↔ IIRS  :   16×   →  Moderate</a:t>
            </a:r>
          </a:p>
          <a:p>
            <a:pPr>
              <a:spcAft>
                <a:spcPts val="4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  OHRC ↔ IIRS   :  267×   →  Extreme 🔴</a:t>
            </a:r>
          </a:p>
        </p:txBody>
      </p:sp>
      <p:pic>
        <p:nvPicPr>
          <p:cNvPr id="11" name="Picture 10" descr="multimodal_3sens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120640"/>
            <a:ext cx="576072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0" y="6492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E80"/>
                </a:solidFill>
                <a:latin typeface="Segoe UI"/>
              </a:defRPr>
            </a:pPr>
            <a:r>
              <a:t>Same terrain rendered at 3 sensor resolutions — fine craters vanish at coarse GSD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Sun-Sweep Atlas &amp; Trust Router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03120" cy="23774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LOLA DEM</a:t>
            </a:r>
            <a:br/>
            <a:r>
              <a:t>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Synthetic lunar</a:t>
            </a:r>
            <a:br/>
            <a:r>
              <a:t>surface from LOLA</a:t>
            </a:r>
            <a:br/>
            <a:r>
              <a:t>elevation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8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645920"/>
            <a:ext cx="2103120" cy="23774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88919" y="1783080"/>
            <a:ext cx="365760" cy="36576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19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Sun-Sweep</a:t>
            </a:r>
            <a:br/>
            <a:r>
              <a:t>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512×512 px renders</a:t>
            </a:r>
            <a:br/>
            <a:r>
              <a:t>at 10 sun geometries</a:t>
            </a:r>
            <a:br/>
            <a:r>
              <a:t>(5 Δaz × 2 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8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103120" cy="23774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2064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6-Matcher</a:t>
            </a:r>
            <a:br/>
            <a:r>
              <a:t>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SIFT, ORB, LoFTR</a:t>
            </a:r>
            <a:br/>
            <a:r>
              <a:t>SP+LightGlue</a:t>
            </a:r>
            <a:br/>
            <a:r>
              <a:t>ALIKED+LG, MINIMA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8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645920"/>
            <a:ext cx="2103120" cy="23774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2359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60-Cell</a:t>
            </a:r>
            <a:br/>
            <a:r>
              <a:t>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Per-cell success rate</a:t>
            </a:r>
            <a:br/>
            <a:r>
              <a:t>+ grid error + match</a:t>
            </a:r>
            <a:br/>
            <a:r>
              <a:t>count →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8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2103120" cy="23774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1783080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Trust</a:t>
            </a:r>
            <a:br/>
            <a:r>
              <a:t>Router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GREEN ≥85%</a:t>
            </a:r>
            <a:br/>
            <a:r>
              <a:t>AMBER 40–85%</a:t>
            </a:r>
            <a:br/>
            <a:r>
              <a:t>RED &lt;40% → REFUSE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1106424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🔒 SHA-256 Pinned 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Renders are hash-locked — no post-hoc tuning possible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🧪 Negative Control Built-In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Mismatched terrain correctly refused by SIFT (18 &lt; 20 match floor)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6235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444"/>
                </a:solidFill>
                <a:latin typeface="Segoe UI"/>
              </a:defRPr>
            </a:pPr>
            <a:r>
              <a:t>⚠ MINIMA False Positive Caught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9435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71 matches, 22 RANSAC inliers — but 114.9 px error vs ground truth!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6235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📊 Pre-Committed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435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max_grid_error &lt; 3.0 px AND min_correct ≥ 20 — locked BEFORE sweep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Sun Angle Destroys Pixel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2_4panel_honest_e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663440"/>
            <a:ext cx="2651760" cy="164592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8"/>
                </a:solidFill>
                <a:latin typeface="Segoe UI"/>
              </a:defRPr>
            </a:pPr>
            <a:r>
              <a:t>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E80"/>
                </a:solidFill>
                <a:latin typeface="Segoe UI"/>
              </a:defRPr>
            </a:pPr>
            <a:r>
              <a:t>az 270° · el 40°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Segoe UI"/>
              </a:defRPr>
            </a:pPr>
            <a:r>
              <a:t>NCC = +1.00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52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0% shadow delta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663440"/>
            <a:ext cx="2651760" cy="164592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8"/>
                </a:solidFill>
                <a:latin typeface="Segoe UI"/>
              </a:defRPr>
            </a:pPr>
            <a:r>
              <a:t>180°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E80"/>
                </a:solidFill>
                <a:latin typeface="Segoe UI"/>
              </a:defRPr>
            </a:pPr>
            <a:r>
              <a:t>az 90° · el 40°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444"/>
                </a:solidFill>
                <a:latin typeface="Segoe UI"/>
              </a:defRPr>
            </a:pPr>
            <a:r>
              <a:t>NCC = −0.54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852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Shadows swap sides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663440"/>
            <a:ext cx="2651760" cy="164592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8"/>
                </a:solidFill>
                <a:latin typeface="Segoe UI"/>
              </a:defRPr>
            </a:pPr>
            <a:r>
              <a:t>Grazing Sun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E80"/>
                </a:solidFill>
                <a:latin typeface="Segoe UI"/>
              </a:defRPr>
            </a:pPr>
            <a:r>
              <a:t>az 270° · el 10°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NCC = +0.56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5852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21% shadow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4663440"/>
            <a:ext cx="2651760" cy="164592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9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8"/>
                </a:solidFill>
                <a:latin typeface="Segoe UI"/>
              </a:defRPr>
            </a:pPr>
            <a:r>
              <a:t>Grazing + 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E80"/>
                </a:solidFill>
                <a:latin typeface="Segoe UI"/>
              </a:defRPr>
            </a:pPr>
            <a:r>
              <a:t>az 90° · el 10°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79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444"/>
                </a:solidFill>
                <a:latin typeface="Segoe UI"/>
              </a:defRPr>
            </a:pPr>
            <a:r>
              <a:t>NCC = −0.62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5852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Worst-case scenario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E80"/>
                </a:solidFill>
                <a:latin typeface="Segoe UI"/>
              </a:defRPr>
            </a:pPr>
            <a:r>
              <a:t>All renders: 512×512 px · 20 m/px · SHA-256 pinned simulator (eb05f65...)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RESULTS — SINGLE 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60-Cell Matcher Atlas (Verified from atlas.csv)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Δ0° / 10°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Δ0° / 40°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Δ45° / 10°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Δ45° / 40°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Δ90° / 10°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Δ90° / 40°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Δ135° / 10°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Δ135° / 40°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Δ180° / 10°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Δ180° / 40°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116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20116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318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201168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ORB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274320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114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274320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2080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6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274320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LoFTR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2948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3600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318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2080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59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47472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217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347472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347472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80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0" y="347472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70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69880" y="347472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263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2062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SP+LG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1012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8892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1871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49039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445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0916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749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93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298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420624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56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964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148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420624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169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69880" y="420624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267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937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ALIKED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493776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383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88920" y="493776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829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49039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0916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940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4964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0976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69880" y="4937760"/>
            <a:ext cx="914400" cy="502920"/>
          </a:xfrm>
          <a:prstGeom prst="roundRect">
            <a:avLst/>
          </a:prstGeom>
          <a:solidFill>
            <a:srgbClr val="FF444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6692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MINIMA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1014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8892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1868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49039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737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0916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952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6928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754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2940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849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8952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797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4964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868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0976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966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469880" y="5669280"/>
            <a:ext cx="914400" cy="502920"/>
          </a:xfrm>
          <a:prstGeom prst="roundRect">
            <a:avLst/>
          </a:prstGeom>
          <a:solidFill>
            <a:srgbClr val="00E67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1031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E80"/>
                </a:solidFill>
                <a:latin typeface="Segoe UI"/>
              </a:defRPr>
            </a:pPr>
            <a:r>
              <a:t>Success = grid_error &lt; 3.0 px AND correct_matches ≥ 20  |  ✓ = success cell  |  Number = correct matches  |  MINIMA: 10/10 cells succeeded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CROSS-SENSOR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Multi-Modal Feature Matching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_match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36576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SuperPoint+LightGlue: 138 Inliers</a:t>
            </a:r>
            <a:br/>
            <a:r>
              <a:t>(OHRC ↔ TMC-2, 17× scale)</a:t>
            </a:r>
          </a:p>
        </p:txBody>
      </p:sp>
      <p:pic>
        <p:nvPicPr>
          <p:cNvPr id="7" name="Picture 6" descr="demo_match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36576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00"/>
                </a:solidFill>
                <a:latin typeface="Segoe UI"/>
              </a:defRPr>
            </a:pPr>
            <a:r>
              <a:t>LoFTR: 82 Inliers (Cross-Modal)</a:t>
            </a:r>
            <a:br/>
            <a:r>
              <a:t>(TMC-2 ↔ IIRS, 16× scale)</a:t>
            </a:r>
          </a:p>
        </p:txBody>
      </p:sp>
      <p:pic>
        <p:nvPicPr>
          <p:cNvPr id="9" name="Picture 8" descr="demo_match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45920"/>
            <a:ext cx="36576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444"/>
                </a:solidFill>
                <a:latin typeface="Segoe UI"/>
              </a:defRPr>
            </a:pPr>
            <a:r>
              <a:t>ABORTED: 267× Scale Gap</a:t>
            </a:r>
            <a:br/>
            <a:r>
              <a:t>(OHRC ↔ IIRS — Trust: RED)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1106424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Classical Matchers (SIFT, ORB)</a:t>
            </a:r>
          </a:p>
          <a:p>
            <a:pPr>
              <a:spcAft>
                <a:spcPts val="4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0 matches across ALL 60 cross-sensor cells</a:t>
            </a:r>
          </a:p>
          <a:p>
            <a:pPr>
              <a:spcAft>
                <a:spcPts val="400"/>
              </a:spcAft>
              <a:defRPr sz="1300" b="0">
                <a:solidFill>
                  <a:srgbClr val="FF4444"/>
                </a:solidFill>
                <a:latin typeface="Segoe UI"/>
              </a:defRPr>
            </a:pPr>
            <a:r>
              <a:t>0% success rate — complete failure</a:t>
            </a:r>
          </a:p>
          <a:p>
            <a:pPr>
              <a:spcAft>
                <a:spcPts val="400"/>
              </a:spcAft>
              <a:defRPr sz="1200" b="0">
                <a:solidFill>
                  <a:srgbClr val="B0B8C8"/>
                </a:solidFill>
                <a:latin typeface="Segoe UI"/>
              </a:defRPr>
            </a:pPr>
            <a:r>
              <a:t>Resolution mismatch destroys feature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Trust Router Decision Logic</a:t>
            </a:r>
          </a:p>
          <a:p>
            <a:pPr>
              <a:spcAft>
                <a:spcPts val="400"/>
              </a:spcAft>
              <a:defRPr sz="1400" b="0">
                <a:solidFill>
                  <a:srgbClr val="FFAA00"/>
                </a:solidFill>
                <a:latin typeface="Segoe UI"/>
              </a:defRPr>
            </a:pPr>
            <a:r>
              <a:t>OHRC↔TMC-2 (17×): Route to neural matcher</a:t>
            </a:r>
          </a:p>
          <a:p>
            <a:pPr>
              <a:spcAft>
                <a:spcPts val="400"/>
              </a:spcAft>
              <a:defRPr sz="1400" b="0">
                <a:solidFill>
                  <a:srgbClr val="FFAA00"/>
                </a:solidFill>
                <a:latin typeface="Segoe UI"/>
              </a:defRPr>
            </a:pPr>
            <a:r>
              <a:t>TMC-2↔IIRS (16×): Route to neural matcher</a:t>
            </a:r>
          </a:p>
          <a:p>
            <a:pPr>
              <a:spcAft>
                <a:spcPts val="4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OHRC↔IIRS (267×): REFUSE to match → RED 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Trust Router &amp; 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Segoe UI"/>
              </a:defRPr>
            </a:pPr>
            <a:r>
              <a:t>🟢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≥ 85% Atlas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Safe to use — any matcher works</a:t>
            </a:r>
            <a:br/>
            <a:r>
              <a:t>Classical SIFT sufficient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A00"/>
                </a:solidFill>
                <a:latin typeface="Segoe UI"/>
              </a:defRPr>
            </a:pPr>
            <a:r>
              <a:t>🟡 AMBER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40–85% Atlas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Use with caution</a:t>
            </a:r>
            <a:br/>
            <a:r>
              <a:t>Route to neural matcher (LoFTR/MINIMA)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  <a:latin typeface="Segoe UI"/>
              </a:defRPr>
            </a:pPr>
            <a:r>
              <a:t>🔴 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&lt; 40% Atlas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REFUSE to match</a:t>
            </a:r>
            <a:br/>
            <a:r>
              <a:t>False match risk too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106424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Streamlit Dashboard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☀ 3D Sun Hemisphere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56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Interactive Plotly sky dome — drag to rotate, see sun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📊 Heatmaps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56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Per-matcher success rate across all 10 sun geometries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🤖 Trust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6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Select angle + sensor pair → instant best-matcher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📈 3D Surface Plot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79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Rotatable success-rate landscape across Δaz × el 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486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🛰 Live PDS4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779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Upload real ISRO PDS4 XML → live trust routing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486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📋 Raw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779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Full atlas.csv table — every number verifiable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Launch: streamlit run dashboard.py  →  http://localhost:8501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REPRODUCIBILITY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Every Number is Verifiable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🔐 SHA-256 Simulator Pinning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sun_sim_v2.py (eb05f65...) and synth_dem.py (841ba17...) hashed at startup.</a:t>
            </a:r>
            <a:br/>
            <a:r>
              <a:t>Any modification to renderer → pipeline refuses to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📋 Pre-Committed 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config.yaml locked at commit 7b459d3 BEFORE any sweep ran.</a:t>
            </a:r>
            <a:br/>
            <a:r>
              <a:t>max_grid_error &lt; 3.0 px AND min_correct_matches ≥ 20.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9184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🔄 Deterministic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Same (matcher, az, el) cell → bit-for-bit identical results.</a:t>
            </a:r>
            <a:br/>
            <a:r>
              <a:t>Verified on both SIFT and MINIMA back-to-back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🧪 Negative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Mismatched terrain (seed=42 vs seed=9999): SIFT correctly refused (18 &lt; 20).</a:t>
            </a:r>
            <a:br/>
            <a:r>
              <a:t>MINIMA false positive caught: 22 RANSAC inliers but 114.9 px error!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93776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📊 CSV Source of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atlas.csv (60 rows) — every number derived from script output.</a:t>
            </a:r>
            <a:br/>
            <a:r>
              <a:t>No manual edits. No rounding in favorable direction.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937760"/>
            <a:ext cx="5669280" cy="146304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🚫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40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AGENT_CONTEXT.md documents ALL previously fabricated numbers.</a:t>
            </a:r>
            <a:br/>
            <a:r>
              <a:t>Stale PDF explicitly marked. Every correction traceable to git commit.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 State-of-the-Art Matchers + Full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88720" cy="320040"/>
          </a:xfrm>
          <a:prstGeom prst="roundRect">
            <a:avLst/>
          </a:prstGeom>
          <a:solidFill>
            <a:srgbClr val="666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Classical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83080"/>
            <a:ext cx="640080" cy="32004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Scale-invariant keypoints</a:t>
            </a:r>
            <a:br/>
            <a:r>
              <a:t>Good baseline, fails at</a:t>
            </a:r>
            <a:br/>
            <a:r>
              <a:t>large sun angle deltas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1188720" cy="320040"/>
          </a:xfrm>
          <a:prstGeom prst="roundRect">
            <a:avLst/>
          </a:prstGeom>
          <a:solidFill>
            <a:srgbClr val="666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Classical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ORB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783080"/>
            <a:ext cx="640080" cy="32004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Fast binary features</a:t>
            </a:r>
            <a:br/>
            <a:r>
              <a:t>High match count but</a:t>
            </a:r>
            <a:br/>
            <a:r>
              <a:t>low precision under Δaz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1188720" cy="32004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LoFTR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1783080"/>
            <a:ext cx="640080" cy="32004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Dense pixel matching</a:t>
            </a:r>
            <a:br/>
            <a:r>
              <a:t>Strong at moderate Δaz</a:t>
            </a:r>
            <a:br/>
            <a:r>
              <a:t>Fails at 135°+ delta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31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1188720" cy="32004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Deep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SP+LightGlue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069080"/>
            <a:ext cx="6400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SuperPoint features +</a:t>
            </a:r>
            <a:br/>
            <a:r>
              <a:t>adaptive matching</a:t>
            </a:r>
            <a:br/>
            <a:r>
              <a:t>7/10 cells succeeded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931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4069080"/>
            <a:ext cx="1188720" cy="32004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ALIKED+LG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4069080"/>
            <a:ext cx="640080" cy="32004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Deformable keypoints</a:t>
            </a:r>
            <a:br/>
            <a:r>
              <a:t>Excellent at Δaz=0 but</a:t>
            </a:r>
            <a:br/>
            <a:r>
              <a:t>collapses beyond 45°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31920"/>
            <a:ext cx="3657600" cy="2011680"/>
          </a:xfrm>
          <a:prstGeom prst="round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60" y="4069080"/>
            <a:ext cx="1188720" cy="32004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MINIMA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64240" y="4069080"/>
            <a:ext cx="6400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Foundation model matcher</a:t>
            </a:r>
            <a:br/>
            <a:r>
              <a:t>10/10 illumination cells</a:t>
            </a:r>
            <a:br/>
            <a:r>
              <a:t>Best overall performer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We verify every fit and refuse what can't be 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393192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60-cell single-sensor atlas — 6 matchers × 10 sun geometries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6148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Cross-sensor pipeline — OHRC, TMC-2, IIRS at native GSDs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4553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MINIMA: 10/10 illumination cells succeeded (best performer)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95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Trust Router with RED/AMBER/GREEN traffic light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1363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SHA-256 pinned simulator — tamper-proof 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Negative control proves even MINIMA can be confidently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817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Interactive Streamlit dashboard — ready for live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120640"/>
            <a:ext cx="393192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🔮  Integrate real Chandrayaan-2 OHRC/TMC-2 data from PRADAN 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893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🔮  Ground-truth-free rejection for MINIMA false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3093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🔮  Multi-matcher consensus voting for 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4008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  <a:latin typeface="Segoe UI"/>
              </a:defRPr>
            </a:pPr>
            <a:r>
              <a:t>Team Selenographers  ·  SIH 2026  ·  PS 26166  ·  ISRO  ·  github.com/saBBy-is/SunSweepAtlas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